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2" r:id="rId5"/>
    <p:sldMasterId id="2147483683" r:id="rId6"/>
    <p:sldMasterId id="2147483684" r:id="rId7"/>
    <p:sldMasterId id="2147483685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F266CB-BB33-439E-9D00-5646BA14A0FE}">
  <a:tblStyle styleId="{08F266CB-BB33-439E-9D00-5646BA14A0F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11" Type="http://schemas.openxmlformats.org/officeDocument/2006/relationships/slide" Target="slides/slide2.xml"/><Relationship Id="rId22" Type="http://schemas.openxmlformats.org/officeDocument/2006/relationships/slide" Target="slides/slide13.xml"/><Relationship Id="rId10" Type="http://schemas.openxmlformats.org/officeDocument/2006/relationships/slide" Target="slides/slide1.xml"/><Relationship Id="rId21" Type="http://schemas.openxmlformats.org/officeDocument/2006/relationships/slide" Target="slides/slide12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0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9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8c18d55b7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f8c18d55b7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f8c18d55b7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8c18d55b7_2_1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f8c18d55b7_2_1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f8c18d55b7_2_1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8c18d55b7_2_3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f8c18d55b7_2_3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f8c18d55b7_2_3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a3eaf9f95_35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fa3eaf9f95_35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fa3eaf9f95_35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a3eaf9f95_32_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fa3eaf9f95_32_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g3fa3eaf9f95_32_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8c18d55b7_2_10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f8c18d55b7_2_10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8c18d55b7_2_10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a3eaf9f95_3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fa3eaf9f95_32_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fa382fff5f_0_12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3fa382fff5f_0_126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fa382fff5f_0_12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a2118bc6a_3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fa2118bc6a_3_15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a3eaf9f95_3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0" name="Google Shape;440;g3fa3eaf9f95_32_6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a382fff5f_0_2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3fa382fff5f_0_23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fa382fff5f_0_2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a382fff5f_0_9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3fa382fff5f_0_92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fa382fff5f_0_9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8c18d55b7_2_23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g3f8c18d55b7_2_23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3f8c18d55b7_2_23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9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0" name="Google Shape;140;p2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30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6" name="Google Shape;146;p3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3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3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1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31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3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3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3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2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32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58" name="Google Shape;158;p32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59" name="Google Shape;159;p3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3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3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33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5" name="Google Shape;165;p33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66" name="Google Shape;166;p33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7" name="Google Shape;167;p33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68" name="Google Shape;168;p3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9" name="Google Shape;169;p3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3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3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3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3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8" name="Google Shape;178;p35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79" name="Google Shape;179;p35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80" name="Google Shape;180;p3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3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2" name="Google Shape;182;p3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36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p36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87" name="Google Shape;187;p3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3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9" name="Google Shape;189;p3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7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37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3" name="Google Shape;193;p3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4" name="Google Shape;194;p3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5" name="Google Shape;195;p3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38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9" name="Google Shape;199;p3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0" name="Google Shape;200;p3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1" name="Google Shape;201;p3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theme" Target="../theme/theme4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27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2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2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8.png"/><Relationship Id="rId7" Type="http://schemas.openxmlformats.org/officeDocument/2006/relationships/image" Target="../media/image15.png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357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/>
          <p:nvPr/>
        </p:nvSpPr>
        <p:spPr>
          <a:xfrm>
            <a:off x="7063740" y="-1508760"/>
            <a:ext cx="4114800" cy="4114800"/>
          </a:xfrm>
          <a:prstGeom prst="ellipse">
            <a:avLst/>
          </a:prstGeom>
          <a:solidFill>
            <a:srgbClr val="27406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9"/>
          <p:cNvSpPr/>
          <p:nvPr/>
        </p:nvSpPr>
        <p:spPr>
          <a:xfrm>
            <a:off x="7955280" y="3154680"/>
            <a:ext cx="2194560" cy="2194560"/>
          </a:xfrm>
          <a:prstGeom prst="ellipse">
            <a:avLst/>
          </a:prstGeom>
          <a:solidFill>
            <a:srgbClr val="27406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grad_cap_white.png" id="209" name="Google Shape;20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770" y="445770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9"/>
          <p:cNvSpPr/>
          <p:nvPr/>
        </p:nvSpPr>
        <p:spPr>
          <a:xfrm>
            <a:off x="891540" y="425196"/>
            <a:ext cx="4114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IRONHACK UNIVERSITY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9"/>
          <p:cNvSpPr/>
          <p:nvPr/>
        </p:nvSpPr>
        <p:spPr>
          <a:xfrm>
            <a:off x="445770" y="1748790"/>
            <a:ext cx="720090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Predicting Student Dropout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Academic Success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9"/>
          <p:cNvSpPr/>
          <p:nvPr/>
        </p:nvSpPr>
        <p:spPr>
          <a:xfrm>
            <a:off x="466344" y="2983230"/>
            <a:ext cx="617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A machine learning approach to early academic risk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39"/>
          <p:cNvCxnSpPr/>
          <p:nvPr/>
        </p:nvCxnSpPr>
        <p:spPr>
          <a:xfrm>
            <a:off x="466344" y="4011930"/>
            <a:ext cx="2194560" cy="0"/>
          </a:xfrm>
          <a:prstGeom prst="straightConnector1">
            <a:avLst/>
          </a:prstGeom>
          <a:noFill/>
          <a:ln cap="flat" cmpd="sng" w="25400">
            <a:solidFill>
              <a:srgbClr val="B886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39"/>
          <p:cNvSpPr/>
          <p:nvPr/>
        </p:nvSpPr>
        <p:spPr>
          <a:xfrm>
            <a:off x="445770" y="4149090"/>
            <a:ext cx="6172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Kseniia </a:t>
            </a:r>
            <a:r>
              <a:rPr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ukhlina   ·   Carla Fajula   ·   Nadiya Al-Shahaibi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9"/>
          <p:cNvSpPr/>
          <p:nvPr/>
        </p:nvSpPr>
        <p:spPr>
          <a:xfrm>
            <a:off x="445770" y="4629150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A3B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97A3BE"/>
                </a:solidFill>
                <a:latin typeface="Calibri"/>
                <a:ea typeface="Calibri"/>
                <a:cs typeface="Calibri"/>
                <a:sym typeface="Calibri"/>
              </a:rPr>
              <a:t>Student Success Prediction  |  Data Analytics Bootcamp </a:t>
            </a:r>
            <a:r>
              <a:rPr lang="en" sz="800">
                <a:solidFill>
                  <a:srgbClr val="97A3BE"/>
                </a:solidFill>
                <a:latin typeface="Calibri"/>
                <a:ea typeface="Calibri"/>
                <a:cs typeface="Calibri"/>
                <a:sym typeface="Calibri"/>
              </a:rPr>
              <a:t>ML </a:t>
            </a:r>
            <a:r>
              <a:rPr b="0" i="0" lang="en" sz="800" u="none" cap="none" strike="noStrike">
                <a:solidFill>
                  <a:srgbClr val="97A3BE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/>
          <p:nvPr/>
        </p:nvSpPr>
        <p:spPr>
          <a:xfrm>
            <a:off x="411480" y="274320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0"/>
          <p:cNvSpPr/>
          <p:nvPr/>
        </p:nvSpPr>
        <p:spPr>
          <a:xfrm>
            <a:off x="411480" y="466344"/>
            <a:ext cx="78867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0"/>
          <p:cNvSpPr/>
          <p:nvPr/>
        </p:nvSpPr>
        <p:spPr>
          <a:xfrm>
            <a:off x="411480" y="1200150"/>
            <a:ext cx="2571750" cy="3120390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0"/>
          <p:cNvSpPr/>
          <p:nvPr/>
        </p:nvSpPr>
        <p:spPr>
          <a:xfrm>
            <a:off x="651510" y="1474470"/>
            <a:ext cx="514350" cy="514350"/>
          </a:xfrm>
          <a:prstGeom prst="ellipse">
            <a:avLst/>
          </a:prstGeom>
          <a:solidFill>
            <a:srgbClr val="EAF0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target.png" id="225" name="Google Shape;22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096" y="1591056"/>
            <a:ext cx="288036" cy="28803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0"/>
          <p:cNvSpPr/>
          <p:nvPr/>
        </p:nvSpPr>
        <p:spPr>
          <a:xfrm>
            <a:off x="651510" y="2125980"/>
            <a:ext cx="20916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200"/>
              <a:buFont typeface="Calibri"/>
              <a:buNone/>
            </a:pPr>
            <a:r>
              <a:rPr b="1" i="0" lang="en" sz="16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0"/>
          <p:cNvSpPr/>
          <p:nvPr/>
        </p:nvSpPr>
        <p:spPr>
          <a:xfrm>
            <a:off x="651510" y="2434590"/>
            <a:ext cx="2091690" cy="1680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Predict whether a student will Dropout, remain Enrolled, or Graduate — using only enrollment-time and early-semester data.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0"/>
          <p:cNvSpPr/>
          <p:nvPr/>
        </p:nvSpPr>
        <p:spPr>
          <a:xfrm>
            <a:off x="3223260" y="1200150"/>
            <a:ext cx="2571750" cy="3120390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40"/>
          <p:cNvSpPr/>
          <p:nvPr/>
        </p:nvSpPr>
        <p:spPr>
          <a:xfrm>
            <a:off x="3463290" y="1474470"/>
            <a:ext cx="514350" cy="514350"/>
          </a:xfrm>
          <a:prstGeom prst="ellipse">
            <a:avLst/>
          </a:prstGeom>
          <a:solidFill>
            <a:srgbClr val="EAF0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question.png" id="230" name="Google Shape;23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9876" y="1591056"/>
            <a:ext cx="288036" cy="28803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0"/>
          <p:cNvSpPr/>
          <p:nvPr/>
        </p:nvSpPr>
        <p:spPr>
          <a:xfrm>
            <a:off x="3463290" y="2125980"/>
            <a:ext cx="20916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200"/>
              <a:buFont typeface="Calibri"/>
              <a:buNone/>
            </a:pPr>
            <a:r>
              <a:rPr b="1" i="0" lang="en" sz="16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Business Question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40"/>
          <p:cNvSpPr/>
          <p:nvPr/>
        </p:nvSpPr>
        <p:spPr>
          <a:xfrm>
            <a:off x="3463290" y="2434590"/>
            <a:ext cx="2091690" cy="1680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Can we predict who's at risk </a:t>
            </a:r>
            <a:r>
              <a:rPr i="1"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r>
              <a:rPr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they disengage?</a:t>
            </a:r>
            <a:endParaRPr i="0" sz="13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0"/>
          <p:cNvSpPr/>
          <p:nvPr/>
        </p:nvSpPr>
        <p:spPr>
          <a:xfrm>
            <a:off x="6035040" y="1200150"/>
            <a:ext cx="2571750" cy="3120390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0"/>
          <p:cNvSpPr/>
          <p:nvPr/>
        </p:nvSpPr>
        <p:spPr>
          <a:xfrm>
            <a:off x="6275070" y="1474470"/>
            <a:ext cx="514350" cy="514350"/>
          </a:xfrm>
          <a:prstGeom prst="ellipse">
            <a:avLst/>
          </a:prstGeom>
          <a:solidFill>
            <a:srgbClr val="EAF0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ulb.png" id="235" name="Google Shape;235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656" y="1591056"/>
            <a:ext cx="288036" cy="28803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0"/>
          <p:cNvSpPr/>
          <p:nvPr/>
        </p:nvSpPr>
        <p:spPr>
          <a:xfrm>
            <a:off x="6275070" y="2125980"/>
            <a:ext cx="20916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200"/>
              <a:buFont typeface="Calibri"/>
              <a:buNone/>
            </a:pPr>
            <a:r>
              <a:rPr b="1" i="0" lang="en" sz="16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0"/>
          <p:cNvSpPr/>
          <p:nvPr/>
        </p:nvSpPr>
        <p:spPr>
          <a:xfrm>
            <a:off x="6275070" y="2434590"/>
            <a:ext cx="2091690" cy="16802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Gives academic advisors an early signal to target support proactively, before a student is already lost.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0"/>
          <p:cNvSpPr/>
          <p:nvPr/>
        </p:nvSpPr>
        <p:spPr>
          <a:xfrm>
            <a:off x="342900" y="4910328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Predicting Student Dropout &amp; Academic Success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0"/>
          <p:cNvSpPr/>
          <p:nvPr/>
        </p:nvSpPr>
        <p:spPr>
          <a:xfrm>
            <a:off x="8641080" y="4910328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1"/>
          <p:cNvSpPr/>
          <p:nvPr/>
        </p:nvSpPr>
        <p:spPr>
          <a:xfrm>
            <a:off x="411480" y="274320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1"/>
          <p:cNvSpPr/>
          <p:nvPr/>
        </p:nvSpPr>
        <p:spPr>
          <a:xfrm>
            <a:off x="411480" y="466344"/>
            <a:ext cx="78867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Data Selection &amp; Preparation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1"/>
          <p:cNvSpPr/>
          <p:nvPr/>
        </p:nvSpPr>
        <p:spPr>
          <a:xfrm>
            <a:off x="411480" y="1200150"/>
            <a:ext cx="3840480" cy="3120390"/>
          </a:xfrm>
          <a:prstGeom prst="roundRect">
            <a:avLst>
              <a:gd fmla="val 1538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1"/>
          <p:cNvSpPr/>
          <p:nvPr/>
        </p:nvSpPr>
        <p:spPr>
          <a:xfrm>
            <a:off x="651510" y="1405890"/>
            <a:ext cx="480060" cy="480060"/>
          </a:xfrm>
          <a:prstGeom prst="ellipse">
            <a:avLst/>
          </a:prstGeom>
          <a:solidFill>
            <a:srgbClr val="EAF0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atabase.png" id="249" name="Google Shape;24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" y="15087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1"/>
          <p:cNvSpPr/>
          <p:nvPr/>
        </p:nvSpPr>
        <p:spPr>
          <a:xfrm>
            <a:off x="1268730" y="1460754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300"/>
              <a:buFont typeface="Calibri"/>
              <a:buNone/>
            </a:pPr>
            <a:r>
              <a:rPr b="1" i="0" lang="en" sz="16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1"/>
          <p:cNvSpPr/>
          <p:nvPr/>
        </p:nvSpPr>
        <p:spPr>
          <a:xfrm>
            <a:off x="651510" y="2057400"/>
            <a:ext cx="33604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UCI Machine Learning Repository — “Predict Students’ Dropout and Academic Success”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4,424 students across 37 features spanning demographics, admission path, socio-economic status, and semester performance.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Categorical codes validated against documented ranges (attendance and tuition flags confirmed strictly 0/1); IQR-based capping applied to outliers in age, admission grade, and semester performance — rows preserved rather than dropped.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1"/>
          <p:cNvSpPr/>
          <p:nvPr/>
        </p:nvSpPr>
        <p:spPr>
          <a:xfrm>
            <a:off x="4491990" y="1200150"/>
            <a:ext cx="1988820" cy="1165860"/>
          </a:xfrm>
          <a:prstGeom prst="roundRect">
            <a:avLst>
              <a:gd fmla="val 4118" name="adj"/>
            </a:avLst>
          </a:prstGeom>
          <a:solidFill>
            <a:srgbClr val="1F3357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41"/>
          <p:cNvSpPr/>
          <p:nvPr/>
        </p:nvSpPr>
        <p:spPr>
          <a:xfrm>
            <a:off x="4629150" y="1371600"/>
            <a:ext cx="1714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4,424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1"/>
          <p:cNvSpPr/>
          <p:nvPr/>
        </p:nvSpPr>
        <p:spPr>
          <a:xfrm>
            <a:off x="4629150" y="195453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Student records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1"/>
          <p:cNvSpPr/>
          <p:nvPr/>
        </p:nvSpPr>
        <p:spPr>
          <a:xfrm>
            <a:off x="6686550" y="1200150"/>
            <a:ext cx="1988820" cy="1165860"/>
          </a:xfrm>
          <a:prstGeom prst="roundRect">
            <a:avLst>
              <a:gd fmla="val 4118" name="adj"/>
            </a:avLst>
          </a:prstGeom>
          <a:solidFill>
            <a:srgbClr val="1F3357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1"/>
          <p:cNvSpPr/>
          <p:nvPr/>
        </p:nvSpPr>
        <p:spPr>
          <a:xfrm>
            <a:off x="6823710" y="1371600"/>
            <a:ext cx="1714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41"/>
          <p:cNvSpPr/>
          <p:nvPr/>
        </p:nvSpPr>
        <p:spPr>
          <a:xfrm>
            <a:off x="6823710" y="1954530"/>
            <a:ext cx="171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41"/>
          <p:cNvSpPr/>
          <p:nvPr/>
        </p:nvSpPr>
        <p:spPr>
          <a:xfrm>
            <a:off x="4491990" y="2571750"/>
            <a:ext cx="1988820" cy="1165860"/>
          </a:xfrm>
          <a:prstGeom prst="roundRect">
            <a:avLst>
              <a:gd fmla="val 4118" name="adj"/>
            </a:avLst>
          </a:prstGeom>
          <a:solidFill>
            <a:srgbClr val="1F3357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41"/>
          <p:cNvSpPr/>
          <p:nvPr/>
        </p:nvSpPr>
        <p:spPr>
          <a:xfrm>
            <a:off x="4629150" y="2743200"/>
            <a:ext cx="1714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1"/>
          <p:cNvSpPr/>
          <p:nvPr/>
        </p:nvSpPr>
        <p:spPr>
          <a:xfrm>
            <a:off x="4629150" y="332613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41"/>
          <p:cNvSpPr/>
          <p:nvPr/>
        </p:nvSpPr>
        <p:spPr>
          <a:xfrm>
            <a:off x="6686550" y="2571750"/>
            <a:ext cx="1988820" cy="1165860"/>
          </a:xfrm>
          <a:prstGeom prst="roundRect">
            <a:avLst>
              <a:gd fmla="val 4118" name="adj"/>
            </a:avLst>
          </a:prstGeom>
          <a:solidFill>
            <a:srgbClr val="1F3357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1"/>
          <p:cNvSpPr/>
          <p:nvPr/>
        </p:nvSpPr>
        <p:spPr>
          <a:xfrm>
            <a:off x="6823710" y="2743200"/>
            <a:ext cx="1714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1"/>
          <p:cNvSpPr/>
          <p:nvPr/>
        </p:nvSpPr>
        <p:spPr>
          <a:xfrm>
            <a:off x="6823710" y="332613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Duplicate rows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1"/>
          <p:cNvSpPr/>
          <p:nvPr/>
        </p:nvSpPr>
        <p:spPr>
          <a:xfrm>
            <a:off x="4491990" y="3806190"/>
            <a:ext cx="4183380" cy="514350"/>
          </a:xfrm>
          <a:prstGeom prst="roundRect">
            <a:avLst>
              <a:gd fmla="val 9333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41"/>
          <p:cNvSpPr/>
          <p:nvPr/>
        </p:nvSpPr>
        <p:spPr>
          <a:xfrm>
            <a:off x="4629150" y="3922776"/>
            <a:ext cx="384048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900"/>
              <a:buFont typeface="Calibri"/>
              <a:buNone/>
            </a:pPr>
            <a:r>
              <a:rPr b="1" i="0" lang="en" sz="11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Data types:  29 integer · 7 float · 1 categorical (string)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1"/>
          <p:cNvSpPr/>
          <p:nvPr/>
        </p:nvSpPr>
        <p:spPr>
          <a:xfrm>
            <a:off x="342900" y="4910328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Predicting Student Dropout &amp; Academic Success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1"/>
          <p:cNvSpPr/>
          <p:nvPr/>
        </p:nvSpPr>
        <p:spPr>
          <a:xfrm>
            <a:off x="8641080" y="4910328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/>
          <p:nvPr/>
        </p:nvSpPr>
        <p:spPr>
          <a:xfrm>
            <a:off x="411480" y="274320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42"/>
          <p:cNvSpPr/>
          <p:nvPr/>
        </p:nvSpPr>
        <p:spPr>
          <a:xfrm>
            <a:off x="411480" y="466344"/>
            <a:ext cx="78867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Feature Selection &amp; Relationships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2"/>
          <p:cNvSpPr/>
          <p:nvPr/>
        </p:nvSpPr>
        <p:spPr>
          <a:xfrm>
            <a:off x="411480" y="1200150"/>
            <a:ext cx="4457700" cy="3120390"/>
          </a:xfrm>
          <a:prstGeom prst="roundRect">
            <a:avLst>
              <a:gd fmla="val 1538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2"/>
          <p:cNvSpPr/>
          <p:nvPr/>
        </p:nvSpPr>
        <p:spPr>
          <a:xfrm>
            <a:off x="651510" y="133731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Strongest Predictors (Cramér's V)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2"/>
          <p:cNvSpPr/>
          <p:nvPr/>
        </p:nvSpPr>
        <p:spPr>
          <a:xfrm>
            <a:off x="651510" y="1563624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Chi-square test of association · all significant at p &lt; .001 unless noted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930" y="1817370"/>
            <a:ext cx="4183380" cy="236601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2"/>
          <p:cNvSpPr/>
          <p:nvPr/>
        </p:nvSpPr>
        <p:spPr>
          <a:xfrm>
            <a:off x="5006340" y="1200150"/>
            <a:ext cx="3737610" cy="3120390"/>
          </a:xfrm>
          <a:prstGeom prst="roundRect">
            <a:avLst>
              <a:gd fmla="val 1538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2"/>
          <p:cNvSpPr/>
          <p:nvPr/>
        </p:nvSpPr>
        <p:spPr>
          <a:xfrm>
            <a:off x="5246370" y="1337310"/>
            <a:ext cx="3429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Target Distribution  (n = 4,424)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2"/>
          <p:cNvSpPr/>
          <p:nvPr/>
        </p:nvSpPr>
        <p:spPr>
          <a:xfrm>
            <a:off x="342900" y="4910328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Predicting Student Dropout &amp; Academic Success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2"/>
          <p:cNvSpPr/>
          <p:nvPr/>
        </p:nvSpPr>
        <p:spPr>
          <a:xfrm>
            <a:off x="8641080" y="4910328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7790" y="1611630"/>
            <a:ext cx="3429000" cy="2537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3"/>
          <p:cNvSpPr/>
          <p:nvPr/>
        </p:nvSpPr>
        <p:spPr>
          <a:xfrm>
            <a:off x="411480" y="274320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MODELING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3"/>
          <p:cNvSpPr/>
          <p:nvPr/>
        </p:nvSpPr>
        <p:spPr>
          <a:xfrm>
            <a:off x="411480" y="466344"/>
            <a:ext cx="78867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Model Building &amp; Evaluation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3"/>
          <p:cNvSpPr/>
          <p:nvPr/>
        </p:nvSpPr>
        <p:spPr>
          <a:xfrm>
            <a:off x="4663440" y="1217350"/>
            <a:ext cx="4396800" cy="1748700"/>
          </a:xfrm>
          <a:prstGeom prst="roundRect">
            <a:avLst>
              <a:gd fmla="val 2745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icons/chart.png" id="292" name="Google Shape;29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0719" y="133732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3"/>
          <p:cNvSpPr/>
          <p:nvPr/>
        </p:nvSpPr>
        <p:spPr>
          <a:xfrm>
            <a:off x="5568844" y="1354463"/>
            <a:ext cx="3360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Evaluation Metrics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3"/>
          <p:cNvSpPr/>
          <p:nvPr/>
        </p:nvSpPr>
        <p:spPr>
          <a:xfrm>
            <a:off x="4989149" y="1685400"/>
            <a:ext cx="38406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Because classes are imbalanced (50% / 32% / 18%), plain accuracy is misleading. We report: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Balanced accuracy · Macro F1 · Per-class precision/recall · Confusion matrix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3"/>
          <p:cNvSpPr/>
          <p:nvPr/>
        </p:nvSpPr>
        <p:spPr>
          <a:xfrm>
            <a:off x="411480" y="3120390"/>
            <a:ext cx="2571750" cy="120015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icons/network.png" id="296" name="Google Shape;29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" y="3339846"/>
            <a:ext cx="288036" cy="28803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3"/>
          <p:cNvSpPr/>
          <p:nvPr/>
        </p:nvSpPr>
        <p:spPr>
          <a:xfrm>
            <a:off x="994410" y="3271266"/>
            <a:ext cx="18173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K-Nearest Neighbors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3"/>
          <p:cNvSpPr/>
          <p:nvPr/>
        </p:nvSpPr>
        <p:spPr>
          <a:xfrm>
            <a:off x="617220" y="3771900"/>
            <a:ext cx="216027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69% accuracy - 0.61 macro F1 - baseline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3"/>
          <p:cNvSpPr/>
          <p:nvPr/>
        </p:nvSpPr>
        <p:spPr>
          <a:xfrm>
            <a:off x="3223260" y="3120390"/>
            <a:ext cx="2571750" cy="120015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icons/flow.png" id="300" name="Google Shape;300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9000" y="3339846"/>
            <a:ext cx="288036" cy="288036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3"/>
          <p:cNvSpPr/>
          <p:nvPr/>
        </p:nvSpPr>
        <p:spPr>
          <a:xfrm>
            <a:off x="3806190" y="3271266"/>
            <a:ext cx="18173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3"/>
          <p:cNvSpPr/>
          <p:nvPr/>
        </p:nvSpPr>
        <p:spPr>
          <a:xfrm>
            <a:off x="3429000" y="3771900"/>
            <a:ext cx="216027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73% accuracy - 82% train (9pp gap)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3"/>
          <p:cNvSpPr/>
          <p:nvPr/>
        </p:nvSpPr>
        <p:spPr>
          <a:xfrm>
            <a:off x="6035040" y="3120390"/>
            <a:ext cx="2571750" cy="120015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icons/arrow_trend.png" id="304" name="Google Shape;304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0780" y="3339846"/>
            <a:ext cx="288036" cy="288036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3"/>
          <p:cNvSpPr/>
          <p:nvPr/>
        </p:nvSpPr>
        <p:spPr>
          <a:xfrm>
            <a:off x="6617970" y="3271266"/>
            <a:ext cx="18173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3"/>
          <p:cNvSpPr/>
          <p:nvPr/>
        </p:nvSpPr>
        <p:spPr>
          <a:xfrm>
            <a:off x="6240780" y="3771900"/>
            <a:ext cx="216027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75% accuracy - 0.66 macro F1 - top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3"/>
          <p:cNvSpPr/>
          <p:nvPr/>
        </p:nvSpPr>
        <p:spPr>
          <a:xfrm>
            <a:off x="342900" y="4910328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Predicting Student Dropout &amp; Academic Success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3"/>
          <p:cNvSpPr/>
          <p:nvPr/>
        </p:nvSpPr>
        <p:spPr>
          <a:xfrm>
            <a:off x="8641080" y="4910328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3"/>
          <p:cNvSpPr/>
          <p:nvPr/>
        </p:nvSpPr>
        <p:spPr>
          <a:xfrm>
            <a:off x="411480" y="1217350"/>
            <a:ext cx="4046220" cy="1748700"/>
          </a:xfrm>
          <a:prstGeom prst="roundRect">
            <a:avLst>
              <a:gd fmla="val 2745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icons/balance.png" id="310" name="Google Shape;310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8759" y="133732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3"/>
          <p:cNvSpPr/>
          <p:nvPr/>
        </p:nvSpPr>
        <p:spPr>
          <a:xfrm>
            <a:off x="1316884" y="1354463"/>
            <a:ext cx="3360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Target Class Balance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7189" y="1685400"/>
            <a:ext cx="3840600" cy="955956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3"/>
          <p:cNvSpPr txBox="1"/>
          <p:nvPr/>
        </p:nvSpPr>
        <p:spPr>
          <a:xfrm>
            <a:off x="617520" y="2661356"/>
            <a:ext cx="363474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Enrolled is clearly under-represented.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/>
          <p:nvPr/>
        </p:nvSpPr>
        <p:spPr>
          <a:xfrm>
            <a:off x="411480" y="274320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MODELING ·</a:t>
            </a:r>
            <a:r>
              <a:rPr b="1" lang="en" sz="900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 Nadiya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4"/>
          <p:cNvSpPr/>
          <p:nvPr/>
        </p:nvSpPr>
        <p:spPr>
          <a:xfrm>
            <a:off x="411480" y="466344"/>
            <a:ext cx="78867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KNN Results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4"/>
          <p:cNvSpPr/>
          <p:nvPr/>
        </p:nvSpPr>
        <p:spPr>
          <a:xfrm>
            <a:off x="411480" y="1165860"/>
            <a:ext cx="1714500" cy="788670"/>
          </a:xfrm>
          <a:prstGeom prst="roundRect">
            <a:avLst>
              <a:gd fmla="val 6087" name="adj"/>
            </a:avLst>
          </a:prstGeom>
          <a:solidFill>
            <a:srgbClr val="1F3357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4"/>
          <p:cNvSpPr/>
          <p:nvPr/>
        </p:nvSpPr>
        <p:spPr>
          <a:xfrm>
            <a:off x="514350" y="1261872"/>
            <a:ext cx="1508760" cy="36347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69%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4"/>
          <p:cNvSpPr/>
          <p:nvPr/>
        </p:nvSpPr>
        <p:spPr>
          <a:xfrm>
            <a:off x="480060" y="1639062"/>
            <a:ext cx="15773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4"/>
          <p:cNvSpPr/>
          <p:nvPr/>
        </p:nvSpPr>
        <p:spPr>
          <a:xfrm>
            <a:off x="2297430" y="1165860"/>
            <a:ext cx="1714500" cy="788670"/>
          </a:xfrm>
          <a:prstGeom prst="roundRect">
            <a:avLst>
              <a:gd fmla="val 6087" name="adj"/>
            </a:avLst>
          </a:prstGeom>
          <a:solidFill>
            <a:srgbClr val="1F3357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44"/>
          <p:cNvSpPr/>
          <p:nvPr/>
        </p:nvSpPr>
        <p:spPr>
          <a:xfrm>
            <a:off x="2400300" y="1261872"/>
            <a:ext cx="1508760" cy="36347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4"/>
          <p:cNvSpPr/>
          <p:nvPr/>
        </p:nvSpPr>
        <p:spPr>
          <a:xfrm>
            <a:off x="2366010" y="1639062"/>
            <a:ext cx="15773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Balanced Accuracy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4"/>
          <p:cNvSpPr/>
          <p:nvPr/>
        </p:nvSpPr>
        <p:spPr>
          <a:xfrm>
            <a:off x="4183380" y="1165860"/>
            <a:ext cx="1714500" cy="788670"/>
          </a:xfrm>
          <a:prstGeom prst="roundRect">
            <a:avLst>
              <a:gd fmla="val 6087" name="adj"/>
            </a:avLst>
          </a:prstGeom>
          <a:solidFill>
            <a:srgbClr val="1F3357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4"/>
          <p:cNvSpPr/>
          <p:nvPr/>
        </p:nvSpPr>
        <p:spPr>
          <a:xfrm>
            <a:off x="4286250" y="1261872"/>
            <a:ext cx="1508760" cy="36347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4"/>
          <p:cNvSpPr/>
          <p:nvPr/>
        </p:nvSpPr>
        <p:spPr>
          <a:xfrm>
            <a:off x="4251960" y="1639062"/>
            <a:ext cx="15773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Macro F1-score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44"/>
          <p:cNvSpPr/>
          <p:nvPr/>
        </p:nvSpPr>
        <p:spPr>
          <a:xfrm>
            <a:off x="411480" y="2125980"/>
            <a:ext cx="3771900" cy="1405890"/>
          </a:xfrm>
          <a:prstGeom prst="roundRect">
            <a:avLst>
              <a:gd fmla="val 3415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4"/>
          <p:cNvSpPr/>
          <p:nvPr/>
        </p:nvSpPr>
        <p:spPr>
          <a:xfrm>
            <a:off x="617220" y="2228850"/>
            <a:ext cx="3429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Per-Class Performance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2" name="Google Shape;332;p44"/>
          <p:cNvGraphicFramePr/>
          <p:nvPr/>
        </p:nvGraphicFramePr>
        <p:xfrm>
          <a:off x="617220" y="2468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{08F266CB-BB33-439E-9D00-5646BA14A0FE}</a:tableStyleId>
              </a:tblPr>
              <a:tblGrid>
                <a:gridCol w="1028700"/>
                <a:gridCol w="788650"/>
                <a:gridCol w="720075"/>
                <a:gridCol w="445750"/>
                <a:gridCol w="377175"/>
              </a:tblGrid>
              <a:tr h="240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357"/>
                    </a:solidFill>
                  </a:tcPr>
                </a:tc>
              </a:tr>
              <a:tr h="240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Dropout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0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Enrolled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0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Graduate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3" name="Google Shape;333;p44"/>
          <p:cNvSpPr/>
          <p:nvPr/>
        </p:nvSpPr>
        <p:spPr>
          <a:xfrm>
            <a:off x="411480" y="3634740"/>
            <a:ext cx="3771900" cy="78867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4"/>
          <p:cNvSpPr/>
          <p:nvPr/>
        </p:nvSpPr>
        <p:spPr>
          <a:xfrm>
            <a:off x="617220" y="3737610"/>
            <a:ext cx="34290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k = 5 (default) · uniform weights · minkowski distance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4"/>
          <p:cNvSpPr/>
          <p:nvPr/>
        </p:nvSpPr>
        <p:spPr>
          <a:xfrm>
            <a:off x="617220" y="3963924"/>
            <a:ext cx="34290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Baseline configuration before hyperparameter search (next slide).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4"/>
          <p:cNvSpPr/>
          <p:nvPr/>
        </p:nvSpPr>
        <p:spPr>
          <a:xfrm>
            <a:off x="4354830" y="2125980"/>
            <a:ext cx="2091690" cy="2297430"/>
          </a:xfrm>
          <a:prstGeom prst="roundRect">
            <a:avLst>
              <a:gd fmla="val 2295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4"/>
          <p:cNvSpPr/>
          <p:nvPr/>
        </p:nvSpPr>
        <p:spPr>
          <a:xfrm>
            <a:off x="4526280" y="2228850"/>
            <a:ext cx="17830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8" name="Google Shape;338;p44"/>
          <p:cNvGraphicFramePr/>
          <p:nvPr/>
        </p:nvGraphicFramePr>
        <p:xfrm>
          <a:off x="4526280" y="2468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{08F266CB-BB33-439E-9D00-5646BA14A0FE}</a:tableStyleId>
              </a:tblPr>
              <a:tblGrid>
                <a:gridCol w="445750"/>
                <a:gridCol w="445750"/>
                <a:gridCol w="445750"/>
                <a:gridCol w="445750"/>
              </a:tblGrid>
              <a:tr h="2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Enro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472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5B64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472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5B64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Enro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472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5B64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472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5B64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472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5B64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472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5B64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7"/>
                    </a:solidFill>
                  </a:tcPr>
                </a:tc>
              </a:tr>
            </a:tbl>
          </a:graphicData>
        </a:graphic>
      </p:graphicFrame>
      <p:sp>
        <p:nvSpPr>
          <p:cNvPr id="339" name="Google Shape;339;p44"/>
          <p:cNvSpPr/>
          <p:nvPr/>
        </p:nvSpPr>
        <p:spPr>
          <a:xfrm>
            <a:off x="4526280" y="3600450"/>
            <a:ext cx="17830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rows = actual · columns = predicted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44"/>
          <p:cNvSpPr/>
          <p:nvPr/>
        </p:nvSpPr>
        <p:spPr>
          <a:xfrm>
            <a:off x="6583680" y="2125980"/>
            <a:ext cx="2125980" cy="2297430"/>
          </a:xfrm>
          <a:prstGeom prst="roundRect">
            <a:avLst>
              <a:gd fmla="val 2258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4"/>
          <p:cNvSpPr/>
          <p:nvPr/>
        </p:nvSpPr>
        <p:spPr>
          <a:xfrm>
            <a:off x="6755130" y="2228850"/>
            <a:ext cx="18516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44"/>
          <p:cNvSpPr/>
          <p:nvPr/>
        </p:nvSpPr>
        <p:spPr>
          <a:xfrm>
            <a:off x="6755130" y="2482596"/>
            <a:ext cx="188595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Strong on Dropout and Graduate. Weakest on Enrolled (F1 0.34) — early-semester signals for currently-enrolled students overlap with both eventual outcomes, so the model most often confuses them with Graduate.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4"/>
          <p:cNvSpPr/>
          <p:nvPr/>
        </p:nvSpPr>
        <p:spPr>
          <a:xfrm>
            <a:off x="342900" y="4910328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Predicting Student Dropout &amp; Academic Success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4"/>
          <p:cNvSpPr/>
          <p:nvPr/>
        </p:nvSpPr>
        <p:spPr>
          <a:xfrm>
            <a:off x="8641080" y="4910328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5"/>
          <p:cNvSpPr/>
          <p:nvPr/>
        </p:nvSpPr>
        <p:spPr>
          <a:xfrm>
            <a:off x="411480" y="274320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MODELING · Nadiya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45"/>
          <p:cNvSpPr/>
          <p:nvPr/>
        </p:nvSpPr>
        <p:spPr>
          <a:xfrm>
            <a:off x="411480" y="466344"/>
            <a:ext cx="78867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Hyperparameter Tuning &amp; Class Imbalance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5"/>
          <p:cNvSpPr/>
          <p:nvPr/>
        </p:nvSpPr>
        <p:spPr>
          <a:xfrm>
            <a:off x="411480" y="1200150"/>
            <a:ext cx="3840480" cy="1611630"/>
          </a:xfrm>
          <a:prstGeom prst="roundRect">
            <a:avLst>
              <a:gd fmla="val 2979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icons/search.png" id="352" name="Google Shape;35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" y="135788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5"/>
          <p:cNvSpPr/>
          <p:nvPr/>
        </p:nvSpPr>
        <p:spPr>
          <a:xfrm>
            <a:off x="960120" y="1371600"/>
            <a:ext cx="32918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Search Strategy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5"/>
          <p:cNvSpPr/>
          <p:nvPr/>
        </p:nvSpPr>
        <p:spPr>
          <a:xfrm>
            <a:off x="651510" y="1680210"/>
            <a:ext cx="34975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GridSearchCV and RandomizedSearchCV — 5-fold stratified CV, optimizing macro F1 — both converged on the same setting.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5"/>
          <p:cNvSpPr/>
          <p:nvPr/>
        </p:nvSpPr>
        <p:spPr>
          <a:xfrm>
            <a:off x="651510" y="2160270"/>
            <a:ext cx="1714500" cy="582930"/>
          </a:xfrm>
          <a:prstGeom prst="roundRect">
            <a:avLst>
              <a:gd fmla="val 8235" name="adj"/>
            </a:avLst>
          </a:prstGeom>
          <a:solidFill>
            <a:srgbClr val="1F3357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5"/>
          <p:cNvSpPr/>
          <p:nvPr/>
        </p:nvSpPr>
        <p:spPr>
          <a:xfrm>
            <a:off x="754380" y="2256282"/>
            <a:ext cx="1508760" cy="1577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 = 13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5"/>
          <p:cNvSpPr/>
          <p:nvPr/>
        </p:nvSpPr>
        <p:spPr>
          <a:xfrm>
            <a:off x="720090" y="2427732"/>
            <a:ext cx="15773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n_neighbors (best)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5"/>
          <p:cNvSpPr/>
          <p:nvPr/>
        </p:nvSpPr>
        <p:spPr>
          <a:xfrm>
            <a:off x="2468880" y="2160270"/>
            <a:ext cx="1645920" cy="582930"/>
          </a:xfrm>
          <a:prstGeom prst="roundRect">
            <a:avLst>
              <a:gd fmla="val 8235" name="adj"/>
            </a:avLst>
          </a:prstGeom>
          <a:solidFill>
            <a:srgbClr val="1F3357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5"/>
          <p:cNvSpPr/>
          <p:nvPr/>
        </p:nvSpPr>
        <p:spPr>
          <a:xfrm>
            <a:off x="2571750" y="2256282"/>
            <a:ext cx="1440180" cy="1577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5"/>
          <p:cNvSpPr/>
          <p:nvPr/>
        </p:nvSpPr>
        <p:spPr>
          <a:xfrm>
            <a:off x="2537460" y="2427732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weighting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5"/>
          <p:cNvSpPr/>
          <p:nvPr/>
        </p:nvSpPr>
        <p:spPr>
          <a:xfrm>
            <a:off x="411480" y="2948940"/>
            <a:ext cx="3840480" cy="1371600"/>
          </a:xfrm>
          <a:prstGeom prst="roundRect">
            <a:avLst>
              <a:gd fmla="val 3500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5"/>
          <p:cNvSpPr/>
          <p:nvPr/>
        </p:nvSpPr>
        <p:spPr>
          <a:xfrm>
            <a:off x="651510" y="308610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Best CV macro F1:  0.611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5"/>
          <p:cNvSpPr/>
          <p:nvPr/>
        </p:nvSpPr>
        <p:spPr>
          <a:xfrm>
            <a:off x="651510" y="3360420"/>
            <a:ext cx="3429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1" lang="en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Slightly above the baseline's cross-validated score — but this gain did not carry over to the held-out test set.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5"/>
          <p:cNvSpPr/>
          <p:nvPr/>
        </p:nvSpPr>
        <p:spPr>
          <a:xfrm>
            <a:off x="342900" y="4910328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Predicting Student Dropout &amp; Academic Success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5"/>
          <p:cNvSpPr/>
          <p:nvPr/>
        </p:nvSpPr>
        <p:spPr>
          <a:xfrm>
            <a:off x="8641080" y="4910328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45"/>
          <p:cNvSpPr/>
          <p:nvPr/>
        </p:nvSpPr>
        <p:spPr>
          <a:xfrm>
            <a:off x="4457700" y="1200150"/>
            <a:ext cx="4286250" cy="3120390"/>
          </a:xfrm>
          <a:prstGeom prst="roundRect">
            <a:avLst>
              <a:gd fmla="val 1538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icons/balance.png" id="367" name="Google Shape;367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1351026"/>
            <a:ext cx="260604" cy="260604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5"/>
          <p:cNvSpPr/>
          <p:nvPr/>
        </p:nvSpPr>
        <p:spPr>
          <a:xfrm>
            <a:off x="5006340" y="1371600"/>
            <a:ext cx="363474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SMOTE Experiment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5"/>
          <p:cNvSpPr/>
          <p:nvPr/>
        </p:nvSpPr>
        <p:spPr>
          <a:xfrm>
            <a:off x="4697730" y="1680210"/>
            <a:ext cx="39090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Oversampled the minority classes in training only, then re-trained KNN and compared to the un-balanced baseline on the same test set.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45"/>
          <p:cNvSpPr/>
          <p:nvPr/>
        </p:nvSpPr>
        <p:spPr>
          <a:xfrm>
            <a:off x="4697730" y="2297430"/>
            <a:ext cx="1885950" cy="1062990"/>
          </a:xfrm>
          <a:prstGeom prst="roundRect">
            <a:avLst>
              <a:gd fmla="val 4516" name="adj"/>
            </a:avLst>
          </a:prstGeom>
          <a:solidFill>
            <a:srgbClr val="EAF0FA"/>
          </a:solidFill>
          <a:ln cap="flat" cmpd="sng" w="12700">
            <a:solidFill>
              <a:srgbClr val="EAF0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5"/>
          <p:cNvSpPr/>
          <p:nvPr/>
        </p:nvSpPr>
        <p:spPr>
          <a:xfrm>
            <a:off x="4800600" y="2386584"/>
            <a:ext cx="16802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Without SMOTE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5"/>
          <p:cNvSpPr/>
          <p:nvPr/>
        </p:nvSpPr>
        <p:spPr>
          <a:xfrm>
            <a:off x="4800600" y="2592324"/>
            <a:ext cx="16802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52.4%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5"/>
          <p:cNvSpPr/>
          <p:nvPr/>
        </p:nvSpPr>
        <p:spPr>
          <a:xfrm>
            <a:off x="4800600" y="2983230"/>
            <a:ext cx="168021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Balanced accuracy · Macro F1 0.52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5"/>
          <p:cNvSpPr/>
          <p:nvPr/>
        </p:nvSpPr>
        <p:spPr>
          <a:xfrm>
            <a:off x="6720840" y="2297430"/>
            <a:ext cx="1885950" cy="1062990"/>
          </a:xfrm>
          <a:prstGeom prst="roundRect">
            <a:avLst>
              <a:gd fmla="val 4516" name="adj"/>
            </a:avLst>
          </a:prstGeom>
          <a:solidFill>
            <a:srgbClr val="F4E9D8"/>
          </a:solidFill>
          <a:ln cap="flat" cmpd="sng" w="12700">
            <a:solidFill>
              <a:srgbClr val="B88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5"/>
          <p:cNvSpPr/>
          <p:nvPr/>
        </p:nvSpPr>
        <p:spPr>
          <a:xfrm>
            <a:off x="6823710" y="2386584"/>
            <a:ext cx="16802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With SMOTE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5"/>
          <p:cNvSpPr/>
          <p:nvPr/>
        </p:nvSpPr>
        <p:spPr>
          <a:xfrm>
            <a:off x="6823710" y="2592324"/>
            <a:ext cx="16802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50.9%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5"/>
          <p:cNvSpPr/>
          <p:nvPr/>
        </p:nvSpPr>
        <p:spPr>
          <a:xfrm>
            <a:off x="6823710" y="2983230"/>
            <a:ext cx="168021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Balanced accuracy · Macro F1 0.50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5"/>
          <p:cNvSpPr/>
          <p:nvPr/>
        </p:nvSpPr>
        <p:spPr>
          <a:xfrm>
            <a:off x="4457700" y="3497580"/>
            <a:ext cx="4286250" cy="822960"/>
          </a:xfrm>
          <a:prstGeom prst="roundRect">
            <a:avLst>
              <a:gd fmla="val 5833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098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45"/>
          <p:cNvSpPr/>
          <p:nvPr/>
        </p:nvSpPr>
        <p:spPr>
          <a:xfrm>
            <a:off x="4697730" y="3579876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Result: SMOTE decreased performance for this KNN model — likely because synthetic samples distort real distance relationships across mixed categorical/numerical features. Not recommended in its current form for this project.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6"/>
          <p:cNvSpPr/>
          <p:nvPr/>
        </p:nvSpPr>
        <p:spPr>
          <a:xfrm>
            <a:off x="411480" y="274320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MODELING ·</a:t>
            </a:r>
            <a:r>
              <a:rPr b="1" lang="en" sz="900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 Carla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6"/>
          <p:cNvSpPr/>
          <p:nvPr/>
        </p:nvSpPr>
        <p:spPr>
          <a:xfrm>
            <a:off x="411480" y="466344"/>
            <a:ext cx="78867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2000"/>
              <a:buFont typeface="Calibri"/>
              <a:buNone/>
            </a:pPr>
            <a:r>
              <a:rPr b="1" lang="en" sz="2000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Random Forest </a:t>
            </a:r>
            <a:r>
              <a:rPr b="1" i="0" lang="en" sz="20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6"/>
          <p:cNvSpPr/>
          <p:nvPr/>
        </p:nvSpPr>
        <p:spPr>
          <a:xfrm>
            <a:off x="2023130" y="1148535"/>
            <a:ext cx="1714500" cy="788700"/>
          </a:xfrm>
          <a:prstGeom prst="roundRect">
            <a:avLst>
              <a:gd fmla="val 6087" name="adj"/>
            </a:avLst>
          </a:prstGeom>
          <a:solidFill>
            <a:srgbClr val="1F3357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6"/>
          <p:cNvSpPr/>
          <p:nvPr/>
        </p:nvSpPr>
        <p:spPr>
          <a:xfrm>
            <a:off x="2126000" y="1244547"/>
            <a:ext cx="1508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73.45</a:t>
            </a: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6"/>
          <p:cNvSpPr/>
          <p:nvPr/>
        </p:nvSpPr>
        <p:spPr>
          <a:xfrm>
            <a:off x="2091710" y="1621737"/>
            <a:ext cx="157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6"/>
          <p:cNvSpPr/>
          <p:nvPr/>
        </p:nvSpPr>
        <p:spPr>
          <a:xfrm>
            <a:off x="3909080" y="1148535"/>
            <a:ext cx="1714500" cy="788700"/>
          </a:xfrm>
          <a:prstGeom prst="roundRect">
            <a:avLst>
              <a:gd fmla="val 6087" name="adj"/>
            </a:avLst>
          </a:prstGeom>
          <a:solidFill>
            <a:srgbClr val="1F3357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6"/>
          <p:cNvSpPr/>
          <p:nvPr/>
        </p:nvSpPr>
        <p:spPr>
          <a:xfrm>
            <a:off x="4011950" y="1244547"/>
            <a:ext cx="1508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82.40</a:t>
            </a: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6"/>
          <p:cNvSpPr/>
          <p:nvPr/>
        </p:nvSpPr>
        <p:spPr>
          <a:xfrm>
            <a:off x="3977660" y="1621737"/>
            <a:ext cx="157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r>
              <a:rPr lang="en" sz="800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800" u="none" cap="none" strike="noStrike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6"/>
          <p:cNvSpPr/>
          <p:nvPr/>
        </p:nvSpPr>
        <p:spPr>
          <a:xfrm>
            <a:off x="5795030" y="1148535"/>
            <a:ext cx="1714500" cy="788700"/>
          </a:xfrm>
          <a:prstGeom prst="roundRect">
            <a:avLst>
              <a:gd fmla="val 6087" name="adj"/>
            </a:avLst>
          </a:prstGeom>
          <a:solidFill>
            <a:srgbClr val="1F3357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6"/>
          <p:cNvSpPr/>
          <p:nvPr/>
        </p:nvSpPr>
        <p:spPr>
          <a:xfrm>
            <a:off x="5897900" y="1244547"/>
            <a:ext cx="1508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62.05%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6"/>
          <p:cNvSpPr/>
          <p:nvPr/>
        </p:nvSpPr>
        <p:spPr>
          <a:xfrm>
            <a:off x="5863610" y="1621737"/>
            <a:ext cx="157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Balanced a</a:t>
            </a:r>
            <a:r>
              <a:rPr lang="en" sz="800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ccuracy</a:t>
            </a:r>
            <a:endParaRPr sz="800">
              <a:solidFill>
                <a:srgbClr val="C9D3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6"/>
          <p:cNvSpPr/>
          <p:nvPr/>
        </p:nvSpPr>
        <p:spPr>
          <a:xfrm>
            <a:off x="485775" y="2344200"/>
            <a:ext cx="2364000" cy="2087700"/>
          </a:xfrm>
          <a:prstGeom prst="roundRect">
            <a:avLst>
              <a:gd fmla="val 2295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6"/>
          <p:cNvSpPr/>
          <p:nvPr/>
        </p:nvSpPr>
        <p:spPr>
          <a:xfrm>
            <a:off x="719480" y="2489488"/>
            <a:ext cx="1783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8" name="Google Shape;398;p46"/>
          <p:cNvGraphicFramePr/>
          <p:nvPr/>
        </p:nvGraphicFramePr>
        <p:xfrm>
          <a:off x="779005" y="28289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{08F266CB-BB33-439E-9D00-5646BA14A0FE}</a:tableStyleId>
              </a:tblPr>
              <a:tblGrid>
                <a:gridCol w="445750"/>
                <a:gridCol w="445750"/>
                <a:gridCol w="445750"/>
                <a:gridCol w="445750"/>
              </a:tblGrid>
              <a:tr h="2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Enro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472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472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Enr</a:t>
                      </a:r>
                      <a:r>
                        <a:rPr b="1" lang="en" sz="7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472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472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472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</a:t>
                      </a:r>
                      <a:endParaRPr/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472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7"/>
                    </a:solidFill>
                  </a:tcPr>
                </a:tc>
              </a:tr>
            </a:tbl>
          </a:graphicData>
        </a:graphic>
      </p:graphicFrame>
      <p:sp>
        <p:nvSpPr>
          <p:cNvPr id="399" name="Google Shape;399;p46"/>
          <p:cNvSpPr/>
          <p:nvPr/>
        </p:nvSpPr>
        <p:spPr>
          <a:xfrm>
            <a:off x="779005" y="3960538"/>
            <a:ext cx="1783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rows = actual · columns = predicted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6"/>
          <p:cNvSpPr/>
          <p:nvPr/>
        </p:nvSpPr>
        <p:spPr>
          <a:xfrm>
            <a:off x="6810375" y="2364963"/>
            <a:ext cx="1783200" cy="2087700"/>
          </a:xfrm>
          <a:prstGeom prst="roundRect">
            <a:avLst>
              <a:gd fmla="val 2258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6"/>
          <p:cNvSpPr/>
          <p:nvPr/>
        </p:nvSpPr>
        <p:spPr>
          <a:xfrm>
            <a:off x="6897980" y="2534088"/>
            <a:ext cx="185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46"/>
          <p:cNvSpPr/>
          <p:nvPr/>
        </p:nvSpPr>
        <p:spPr>
          <a:xfrm>
            <a:off x="6741550" y="2598813"/>
            <a:ext cx="17145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6510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Calibri"/>
              <a:buChar char="●"/>
            </a:pPr>
            <a:r>
              <a:rPr lang="en" sz="8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Good overall performance</a:t>
            </a:r>
            <a:endParaRPr sz="80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Calibri"/>
              <a:buChar char="●"/>
            </a:pPr>
            <a:r>
              <a:rPr lang="en" sz="8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First semester academic performance matters most</a:t>
            </a:r>
            <a:endParaRPr sz="80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Calibri"/>
              <a:buChar char="●"/>
            </a:pPr>
            <a:r>
              <a:rPr lang="en" sz="8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Struggle </a:t>
            </a:r>
            <a:r>
              <a:rPr lang="en" sz="8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r>
              <a:rPr lang="en" sz="8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 the enrolled class</a:t>
            </a:r>
            <a:endParaRPr sz="80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6"/>
          <p:cNvSpPr/>
          <p:nvPr/>
        </p:nvSpPr>
        <p:spPr>
          <a:xfrm>
            <a:off x="342900" y="4910328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Predicting Student Dropout &amp; Academic Success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6"/>
          <p:cNvSpPr/>
          <p:nvPr/>
        </p:nvSpPr>
        <p:spPr>
          <a:xfrm>
            <a:off x="8641080" y="4910328"/>
            <a:ext cx="274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6"/>
          <p:cNvSpPr/>
          <p:nvPr/>
        </p:nvSpPr>
        <p:spPr>
          <a:xfrm>
            <a:off x="3094688" y="2364963"/>
            <a:ext cx="3429000" cy="2087700"/>
          </a:xfrm>
          <a:prstGeom prst="roundRect">
            <a:avLst>
              <a:gd fmla="val 1756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6"/>
          <p:cNvSpPr/>
          <p:nvPr/>
        </p:nvSpPr>
        <p:spPr>
          <a:xfrm>
            <a:off x="3230820" y="2472398"/>
            <a:ext cx="342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Top Feature Importance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7" name="Google Shape;407;p46"/>
          <p:cNvPicPr preferRelativeResize="0"/>
          <p:nvPr/>
        </p:nvPicPr>
        <p:blipFill rotWithShape="1">
          <a:blip r:embed="rId3">
            <a:alphaModFix/>
          </a:blip>
          <a:srcRect b="5931" l="0" r="0" t="11805"/>
          <a:stretch/>
        </p:blipFill>
        <p:spPr>
          <a:xfrm>
            <a:off x="3300211" y="2712387"/>
            <a:ext cx="3002450" cy="1646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7"/>
          <p:cNvSpPr txBox="1"/>
          <p:nvPr/>
        </p:nvSpPr>
        <p:spPr>
          <a:xfrm>
            <a:off x="411464" y="482734"/>
            <a:ext cx="8024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F2340"/>
                </a:solidFill>
                <a:latin typeface="Calibri"/>
                <a:ea typeface="Calibri"/>
                <a:cs typeface="Calibri"/>
                <a:sym typeface="Calibri"/>
              </a:rPr>
              <a:t>Gradient Boosting Results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7"/>
          <p:cNvSpPr txBox="1"/>
          <p:nvPr/>
        </p:nvSpPr>
        <p:spPr>
          <a:xfrm>
            <a:off x="493789" y="4814316"/>
            <a:ext cx="377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Predicting Student Dropout &amp; Academic Success</a:t>
            </a:r>
            <a:endParaRPr sz="1100"/>
          </a:p>
        </p:txBody>
      </p:sp>
      <p:sp>
        <p:nvSpPr>
          <p:cNvPr id="414" name="Google Shape;414;p47"/>
          <p:cNvSpPr txBox="1"/>
          <p:nvPr/>
        </p:nvSpPr>
        <p:spPr>
          <a:xfrm>
            <a:off x="8533776" y="4909575"/>
            <a:ext cx="342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100"/>
          </a:p>
        </p:txBody>
      </p:sp>
      <p:sp>
        <p:nvSpPr>
          <p:cNvPr id="415" name="Google Shape;415;p47"/>
          <p:cNvSpPr/>
          <p:nvPr/>
        </p:nvSpPr>
        <p:spPr>
          <a:xfrm>
            <a:off x="411480" y="1165860"/>
            <a:ext cx="1714500" cy="788700"/>
          </a:xfrm>
          <a:prstGeom prst="roundRect">
            <a:avLst>
              <a:gd fmla="val 6087" name="adj"/>
            </a:avLst>
          </a:prstGeom>
          <a:solidFill>
            <a:srgbClr val="1F3357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7"/>
          <p:cNvSpPr/>
          <p:nvPr/>
        </p:nvSpPr>
        <p:spPr>
          <a:xfrm>
            <a:off x="514350" y="1261872"/>
            <a:ext cx="1508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75</a:t>
            </a: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47"/>
          <p:cNvSpPr/>
          <p:nvPr/>
        </p:nvSpPr>
        <p:spPr>
          <a:xfrm>
            <a:off x="480060" y="1639062"/>
            <a:ext cx="157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Accuracy (imbalance)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7"/>
          <p:cNvSpPr/>
          <p:nvPr/>
        </p:nvSpPr>
        <p:spPr>
          <a:xfrm>
            <a:off x="2297430" y="1165860"/>
            <a:ext cx="1714500" cy="788700"/>
          </a:xfrm>
          <a:prstGeom prst="roundRect">
            <a:avLst>
              <a:gd fmla="val 6087" name="adj"/>
            </a:avLst>
          </a:prstGeom>
          <a:solidFill>
            <a:srgbClr val="1F3357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7"/>
          <p:cNvSpPr/>
          <p:nvPr/>
        </p:nvSpPr>
        <p:spPr>
          <a:xfrm>
            <a:off x="2400300" y="1261872"/>
            <a:ext cx="1508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71</a:t>
            </a: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7"/>
          <p:cNvSpPr/>
          <p:nvPr/>
        </p:nvSpPr>
        <p:spPr>
          <a:xfrm>
            <a:off x="2366010" y="1639062"/>
            <a:ext cx="157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Accuracy (balance)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7"/>
          <p:cNvSpPr/>
          <p:nvPr/>
        </p:nvSpPr>
        <p:spPr>
          <a:xfrm>
            <a:off x="4183380" y="1165860"/>
            <a:ext cx="1714500" cy="788700"/>
          </a:xfrm>
          <a:prstGeom prst="roundRect">
            <a:avLst>
              <a:gd fmla="val 6087" name="adj"/>
            </a:avLst>
          </a:prstGeom>
          <a:solidFill>
            <a:srgbClr val="1F3357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7"/>
          <p:cNvSpPr/>
          <p:nvPr/>
        </p:nvSpPr>
        <p:spPr>
          <a:xfrm>
            <a:off x="4286250" y="1261872"/>
            <a:ext cx="1508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0.6</a:t>
            </a:r>
            <a:r>
              <a:rPr b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47"/>
          <p:cNvSpPr/>
          <p:nvPr/>
        </p:nvSpPr>
        <p:spPr>
          <a:xfrm>
            <a:off x="4251960" y="1639062"/>
            <a:ext cx="157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Macro F1-score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7"/>
          <p:cNvSpPr/>
          <p:nvPr/>
        </p:nvSpPr>
        <p:spPr>
          <a:xfrm>
            <a:off x="411480" y="2125980"/>
            <a:ext cx="3771900" cy="1405800"/>
          </a:xfrm>
          <a:prstGeom prst="roundRect">
            <a:avLst>
              <a:gd fmla="val 3415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7"/>
          <p:cNvSpPr/>
          <p:nvPr/>
        </p:nvSpPr>
        <p:spPr>
          <a:xfrm>
            <a:off x="617220" y="2228850"/>
            <a:ext cx="342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Per-Class Performance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6" name="Google Shape;426;p47"/>
          <p:cNvGraphicFramePr/>
          <p:nvPr/>
        </p:nvGraphicFramePr>
        <p:xfrm>
          <a:off x="617220" y="2468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{08F266CB-BB33-439E-9D00-5646BA14A0FE}</a:tableStyleId>
              </a:tblPr>
              <a:tblGrid>
                <a:gridCol w="1028700"/>
                <a:gridCol w="788650"/>
                <a:gridCol w="720075"/>
                <a:gridCol w="445750"/>
                <a:gridCol w="377175"/>
              </a:tblGrid>
              <a:tr h="240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3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357"/>
                    </a:solidFill>
                  </a:tcPr>
                </a:tc>
              </a:tr>
              <a:tr h="240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Dropout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" sz="800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" sz="800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" sz="800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284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0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Enrolled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" sz="800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" sz="800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" sz="800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0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Graduate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" sz="800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" sz="800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" sz="800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38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2B2F3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7" name="Google Shape;427;p47"/>
          <p:cNvSpPr/>
          <p:nvPr/>
        </p:nvSpPr>
        <p:spPr>
          <a:xfrm>
            <a:off x="411480" y="3634740"/>
            <a:ext cx="3771900" cy="78870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7"/>
          <p:cNvSpPr/>
          <p:nvPr/>
        </p:nvSpPr>
        <p:spPr>
          <a:xfrm>
            <a:off x="617220" y="3737610"/>
            <a:ext cx="342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lang="en" sz="9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Winning combination</a:t>
            </a:r>
            <a:endParaRPr b="1" sz="900">
              <a:solidFill>
                <a:srgbClr val="1F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47"/>
          <p:cNvSpPr/>
          <p:nvPr/>
        </p:nvSpPr>
        <p:spPr>
          <a:xfrm>
            <a:off x="617220" y="3963924"/>
            <a:ext cx="3429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500"/>
              <a:buFont typeface="Calibri"/>
              <a:buNone/>
            </a:pPr>
            <a:r>
              <a:rPr b="1" lang="en" sz="1000">
                <a:solidFill>
                  <a:srgbClr val="3C78D8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max_depth = 3   ·   n_estimators = 100   ·   learning_rate = 0.10</a:t>
            </a:r>
            <a:endParaRPr i="1" sz="80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47"/>
          <p:cNvSpPr/>
          <p:nvPr/>
        </p:nvSpPr>
        <p:spPr>
          <a:xfrm>
            <a:off x="4354830" y="2125980"/>
            <a:ext cx="2091600" cy="2297400"/>
          </a:xfrm>
          <a:prstGeom prst="roundRect">
            <a:avLst>
              <a:gd fmla="val 2295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7"/>
          <p:cNvSpPr/>
          <p:nvPr/>
        </p:nvSpPr>
        <p:spPr>
          <a:xfrm>
            <a:off x="4526280" y="2228850"/>
            <a:ext cx="1783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2" name="Google Shape;432;p47"/>
          <p:cNvGraphicFramePr/>
          <p:nvPr/>
        </p:nvGraphicFramePr>
        <p:xfrm>
          <a:off x="4526280" y="2468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{08F266CB-BB33-439E-9D00-5646BA14A0FE}</a:tableStyleId>
              </a:tblPr>
              <a:tblGrid>
                <a:gridCol w="445750"/>
                <a:gridCol w="445750"/>
                <a:gridCol w="445750"/>
                <a:gridCol w="445750"/>
              </a:tblGrid>
              <a:tr h="2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Enro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472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>
                          <a:solidFill>
                            <a:srgbClr val="5B64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472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>
                          <a:solidFill>
                            <a:srgbClr val="5B64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Enro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472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>
                          <a:solidFill>
                            <a:srgbClr val="5B64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472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>
                          <a:solidFill>
                            <a:srgbClr val="5B64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700"/>
                        <a:buFont typeface="Calibri"/>
                        <a:buNone/>
                      </a:pPr>
                      <a:r>
                        <a:rPr b="1" lang="en" sz="7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</a:t>
                      </a:r>
                      <a:endParaRPr sz="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472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>
                          <a:solidFill>
                            <a:srgbClr val="5B64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" sz="800" u="none" cap="none" strike="noStrike">
                          <a:solidFill>
                            <a:srgbClr val="5B64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472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>
                          <a:solidFill>
                            <a:srgbClr val="5B64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81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3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r>
                        <a:rPr b="1" lang="en" sz="800">
                          <a:solidFill>
                            <a:srgbClr val="1F335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6F7"/>
                    </a:solidFill>
                  </a:tcPr>
                </a:tc>
              </a:tr>
            </a:tbl>
          </a:graphicData>
        </a:graphic>
      </p:graphicFrame>
      <p:sp>
        <p:nvSpPr>
          <p:cNvPr id="433" name="Google Shape;433;p47"/>
          <p:cNvSpPr/>
          <p:nvPr/>
        </p:nvSpPr>
        <p:spPr>
          <a:xfrm>
            <a:off x="4526280" y="3600450"/>
            <a:ext cx="1783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00"/>
              <a:buFont typeface="Calibri"/>
              <a:buNone/>
            </a:pPr>
            <a:r>
              <a:rPr b="0" i="1" lang="en" sz="6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rows = actual · columns = predicted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47"/>
          <p:cNvSpPr/>
          <p:nvPr/>
        </p:nvSpPr>
        <p:spPr>
          <a:xfrm>
            <a:off x="6583680" y="2125980"/>
            <a:ext cx="2126100" cy="2297400"/>
          </a:xfrm>
          <a:prstGeom prst="roundRect">
            <a:avLst>
              <a:gd fmla="val 2258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7"/>
          <p:cNvSpPr/>
          <p:nvPr/>
        </p:nvSpPr>
        <p:spPr>
          <a:xfrm>
            <a:off x="6755130" y="2228850"/>
            <a:ext cx="185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7"/>
          <p:cNvSpPr/>
          <p:nvPr/>
        </p:nvSpPr>
        <p:spPr>
          <a:xfrm>
            <a:off x="6755130" y="2482596"/>
            <a:ext cx="1885800" cy="18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Strong on Dropout and Graduate. Weakest on Enrolled (F1 0.</a:t>
            </a:r>
            <a:r>
              <a:rPr lang="en" sz="8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46</a:t>
            </a:r>
            <a:r>
              <a:rPr b="0" i="0" lang="en" sz="8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) — early-semester signals for currently-enrolled students overlap with both eventual outcomes, so the model most often confuses them with Graduate.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7"/>
          <p:cNvSpPr/>
          <p:nvPr/>
        </p:nvSpPr>
        <p:spPr>
          <a:xfrm>
            <a:off x="411480" y="274320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MODELING ·</a:t>
            </a:r>
            <a:r>
              <a:rPr b="1" lang="en" sz="900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 Kseniia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8"/>
          <p:cNvSpPr txBox="1"/>
          <p:nvPr/>
        </p:nvSpPr>
        <p:spPr>
          <a:xfrm>
            <a:off x="411464" y="482734"/>
            <a:ext cx="8024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F2340"/>
                </a:solidFill>
                <a:latin typeface="Calibri"/>
                <a:ea typeface="Calibri"/>
                <a:cs typeface="Calibri"/>
                <a:sym typeface="Calibri"/>
              </a:rPr>
              <a:t>Model Comparison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8"/>
          <p:cNvSpPr txBox="1"/>
          <p:nvPr/>
        </p:nvSpPr>
        <p:spPr>
          <a:xfrm>
            <a:off x="493789" y="4814316"/>
            <a:ext cx="3771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Predicting Student Dropout &amp; Academic Success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8"/>
          <p:cNvSpPr txBox="1"/>
          <p:nvPr/>
        </p:nvSpPr>
        <p:spPr>
          <a:xfrm>
            <a:off x="8533776" y="4909575"/>
            <a:ext cx="342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8"/>
          <p:cNvSpPr/>
          <p:nvPr/>
        </p:nvSpPr>
        <p:spPr>
          <a:xfrm>
            <a:off x="411480" y="274320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MODELING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8"/>
          <p:cNvSpPr txBox="1"/>
          <p:nvPr/>
        </p:nvSpPr>
        <p:spPr>
          <a:xfrm>
            <a:off x="411480" y="950000"/>
            <a:ext cx="7886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Gradient Boosting wins on both balanced accuracy and macro F1 — the metrics that matter most on this imbalanced target.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7" name="Google Shape;44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00" y="1500000"/>
            <a:ext cx="8100000" cy="31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9"/>
          <p:cNvSpPr/>
          <p:nvPr/>
        </p:nvSpPr>
        <p:spPr>
          <a:xfrm>
            <a:off x="5326200" y="4110737"/>
            <a:ext cx="3300900" cy="445800"/>
          </a:xfrm>
          <a:prstGeom prst="roundRect">
            <a:avLst>
              <a:gd fmla="val 4516" name="adj"/>
            </a:avLst>
          </a:prstGeom>
          <a:solidFill>
            <a:srgbClr val="EAF0FA"/>
          </a:solidFill>
          <a:ln cap="flat" cmpd="sng" w="12700">
            <a:solidFill>
              <a:srgbClr val="EAF0FA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9"/>
          <p:cNvSpPr/>
          <p:nvPr/>
        </p:nvSpPr>
        <p:spPr>
          <a:xfrm>
            <a:off x="411480" y="274320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9"/>
          <p:cNvSpPr/>
          <p:nvPr/>
        </p:nvSpPr>
        <p:spPr>
          <a:xfrm>
            <a:off x="411480" y="466344"/>
            <a:ext cx="78867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Real-World Application and Impact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9"/>
          <p:cNvSpPr/>
          <p:nvPr/>
        </p:nvSpPr>
        <p:spPr>
          <a:xfrm>
            <a:off x="411475" y="2461637"/>
            <a:ext cx="4272600" cy="2074500"/>
          </a:xfrm>
          <a:prstGeom prst="roundRect">
            <a:avLst>
              <a:gd fmla="val 1538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hield.png" id="457" name="Google Shape;45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8418" y="1617341"/>
            <a:ext cx="274320" cy="33100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9"/>
          <p:cNvSpPr/>
          <p:nvPr/>
        </p:nvSpPr>
        <p:spPr>
          <a:xfrm>
            <a:off x="720025" y="2649599"/>
            <a:ext cx="3429000" cy="15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100"/>
              <a:buFont typeface="Calibri"/>
              <a:buNone/>
            </a:pPr>
            <a:r>
              <a:rPr b="1" lang="en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Responsible use</a:t>
            </a:r>
            <a:endParaRPr b="1">
              <a:solidFill>
                <a:srgbClr val="1F33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100"/>
              <a:buFont typeface="Calibri"/>
              <a:buNone/>
            </a:pPr>
            <a:r>
              <a:t/>
            </a:r>
            <a:endParaRPr b="1">
              <a:solidFill>
                <a:srgbClr val="1F33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Support human judgement</a:t>
            </a:r>
            <a:endParaRPr>
              <a:solidFill>
                <a:srgbClr val="1F33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Consider false positives and </a:t>
            </a:r>
            <a:r>
              <a:rPr lang="en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 negatives</a:t>
            </a:r>
            <a:endParaRPr>
              <a:solidFill>
                <a:srgbClr val="1F33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Ensure fairness across different groups</a:t>
            </a:r>
            <a:endParaRPr>
              <a:solidFill>
                <a:srgbClr val="1F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9"/>
          <p:cNvSpPr/>
          <p:nvPr/>
        </p:nvSpPr>
        <p:spPr>
          <a:xfrm>
            <a:off x="342900" y="4910328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Predicting Student Dropout &amp; Academic Success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9"/>
          <p:cNvSpPr/>
          <p:nvPr/>
        </p:nvSpPr>
        <p:spPr>
          <a:xfrm>
            <a:off x="8641080" y="4910328"/>
            <a:ext cx="274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9"/>
          <p:cNvSpPr/>
          <p:nvPr/>
        </p:nvSpPr>
        <p:spPr>
          <a:xfrm>
            <a:off x="590307" y="1069215"/>
            <a:ext cx="1471800" cy="1019700"/>
          </a:xfrm>
          <a:prstGeom prst="roundRect">
            <a:avLst>
              <a:gd fmla="val 6087" name="adj"/>
            </a:avLst>
          </a:prstGeom>
          <a:solidFill>
            <a:srgbClr val="1F3357"/>
          </a:solidFill>
          <a:ln cap="flat" cmpd="sng" w="136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8875" rotWithShape="0" algn="bl" dir="5400000" dist="27219">
              <a:srgbClr val="94A0B8">
                <a:alpha val="25100"/>
              </a:srgbClr>
            </a:outerShdw>
          </a:effectLst>
        </p:spPr>
        <p:txBody>
          <a:bodyPr anchorCtr="0" anchor="ctr" bIns="73475" lIns="73475" spcFirstLastPara="1" rIns="73475" wrap="square" tIns="73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62" name="Google Shape;462;p49"/>
          <p:cNvSpPr/>
          <p:nvPr/>
        </p:nvSpPr>
        <p:spPr>
          <a:xfrm>
            <a:off x="624659" y="1733922"/>
            <a:ext cx="1304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800"/>
              <a:buFont typeface="Calibri"/>
              <a:buNone/>
            </a:pPr>
            <a:r>
              <a:rPr lang="en" sz="1200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Student data</a:t>
            </a:r>
            <a:endParaRPr sz="1200">
              <a:solidFill>
                <a:srgbClr val="C9D3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9"/>
          <p:cNvSpPr/>
          <p:nvPr/>
        </p:nvSpPr>
        <p:spPr>
          <a:xfrm>
            <a:off x="2769100" y="1069215"/>
            <a:ext cx="1471800" cy="1019700"/>
          </a:xfrm>
          <a:prstGeom prst="roundRect">
            <a:avLst>
              <a:gd fmla="val 6087" name="adj"/>
            </a:avLst>
          </a:prstGeom>
          <a:solidFill>
            <a:srgbClr val="1F3357"/>
          </a:solidFill>
          <a:ln cap="flat" cmpd="sng" w="136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8875" rotWithShape="0" algn="bl" dir="5400000" dist="27219">
              <a:srgbClr val="94A0B8">
                <a:alpha val="25100"/>
              </a:srgbClr>
            </a:outerShdw>
          </a:effectLst>
        </p:spPr>
        <p:txBody>
          <a:bodyPr anchorCtr="0" anchor="ctr" bIns="73475" lIns="73475" spcFirstLastPara="1" rIns="73475" wrap="square" tIns="73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64" name="Google Shape;464;p49"/>
          <p:cNvSpPr/>
          <p:nvPr/>
        </p:nvSpPr>
        <p:spPr>
          <a:xfrm>
            <a:off x="2804697" y="1733922"/>
            <a:ext cx="1304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800"/>
              <a:buFont typeface="Calibri"/>
              <a:buNone/>
            </a:pPr>
            <a:r>
              <a:rPr lang="en" sz="1200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Risk prediction</a:t>
            </a:r>
            <a:endParaRPr sz="1200">
              <a:solidFill>
                <a:srgbClr val="C9D3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9"/>
          <p:cNvSpPr/>
          <p:nvPr/>
        </p:nvSpPr>
        <p:spPr>
          <a:xfrm>
            <a:off x="4959110" y="1069215"/>
            <a:ext cx="1471800" cy="1019700"/>
          </a:xfrm>
          <a:prstGeom prst="roundRect">
            <a:avLst>
              <a:gd fmla="val 6087" name="adj"/>
            </a:avLst>
          </a:prstGeom>
          <a:solidFill>
            <a:srgbClr val="1F3357"/>
          </a:solidFill>
          <a:ln cap="flat" cmpd="sng" w="136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8875" rotWithShape="0" algn="bl" dir="5400000" dist="27219">
              <a:srgbClr val="94A0B8">
                <a:alpha val="25100"/>
              </a:srgbClr>
            </a:outerShdw>
          </a:effectLst>
        </p:spPr>
        <p:txBody>
          <a:bodyPr anchorCtr="0" anchor="ctr" bIns="73475" lIns="73475" spcFirstLastPara="1" rIns="73475" wrap="square" tIns="73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66" name="Google Shape;466;p49"/>
          <p:cNvSpPr/>
          <p:nvPr/>
        </p:nvSpPr>
        <p:spPr>
          <a:xfrm>
            <a:off x="5042666" y="1733922"/>
            <a:ext cx="1304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800"/>
              <a:buFont typeface="Calibri"/>
              <a:buNone/>
            </a:pPr>
            <a:r>
              <a:rPr lang="en" sz="1200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Early identification</a:t>
            </a:r>
            <a:endParaRPr sz="1200">
              <a:solidFill>
                <a:srgbClr val="C9D3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9"/>
          <p:cNvSpPr/>
          <p:nvPr/>
        </p:nvSpPr>
        <p:spPr>
          <a:xfrm>
            <a:off x="7115512" y="1069215"/>
            <a:ext cx="1471800" cy="1019700"/>
          </a:xfrm>
          <a:prstGeom prst="roundRect">
            <a:avLst>
              <a:gd fmla="val 6087" name="adj"/>
            </a:avLst>
          </a:prstGeom>
          <a:solidFill>
            <a:srgbClr val="1F3357"/>
          </a:solidFill>
          <a:ln cap="flat" cmpd="sng" w="136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8875" rotWithShape="0" algn="bl" dir="5400000" dist="27219">
              <a:srgbClr val="94A0B8">
                <a:alpha val="25100"/>
              </a:srgbClr>
            </a:outerShdw>
          </a:effectLst>
        </p:spPr>
        <p:txBody>
          <a:bodyPr anchorCtr="0" anchor="ctr" bIns="73475" lIns="73475" spcFirstLastPara="1" rIns="73475" wrap="square" tIns="73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68" name="Google Shape;468;p49"/>
          <p:cNvSpPr/>
          <p:nvPr/>
        </p:nvSpPr>
        <p:spPr>
          <a:xfrm>
            <a:off x="7199055" y="1733922"/>
            <a:ext cx="1304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800"/>
              <a:buFont typeface="Calibri"/>
              <a:buNone/>
            </a:pPr>
            <a:r>
              <a:rPr lang="en" sz="1200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Targeted support</a:t>
            </a:r>
            <a:endParaRPr sz="1200">
              <a:solidFill>
                <a:srgbClr val="C9D3E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9" name="Google Shape;469;p49"/>
          <p:cNvPicPr preferRelativeResize="0"/>
          <p:nvPr/>
        </p:nvPicPr>
        <p:blipFill rotWithShape="1">
          <a:blip r:embed="rId4">
            <a:alphaModFix/>
          </a:blip>
          <a:srcRect b="19386" l="76102" r="0" t="19245"/>
          <a:stretch/>
        </p:blipFill>
        <p:spPr>
          <a:xfrm>
            <a:off x="7531311" y="1151033"/>
            <a:ext cx="640200" cy="608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49"/>
          <p:cNvPicPr preferRelativeResize="0"/>
          <p:nvPr/>
        </p:nvPicPr>
        <p:blipFill rotWithShape="1">
          <a:blip r:embed="rId4">
            <a:alphaModFix/>
          </a:blip>
          <a:srcRect b="0" l="49357" r="25835" t="0"/>
          <a:stretch/>
        </p:blipFill>
        <p:spPr>
          <a:xfrm>
            <a:off x="5246160" y="945767"/>
            <a:ext cx="766223" cy="11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9"/>
          <p:cNvPicPr preferRelativeResize="0"/>
          <p:nvPr/>
        </p:nvPicPr>
        <p:blipFill rotWithShape="1">
          <a:blip r:embed="rId4">
            <a:alphaModFix/>
          </a:blip>
          <a:srcRect b="0" l="0" r="75661" t="0"/>
          <a:stretch/>
        </p:blipFill>
        <p:spPr>
          <a:xfrm>
            <a:off x="1051007" y="1131611"/>
            <a:ext cx="452019" cy="687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9"/>
          <p:cNvPicPr preferRelativeResize="0"/>
          <p:nvPr/>
        </p:nvPicPr>
        <p:blipFill rotWithShape="1">
          <a:blip r:embed="rId4">
            <a:alphaModFix/>
          </a:blip>
          <a:srcRect b="0" l="25121" r="50246" t="0"/>
          <a:stretch/>
        </p:blipFill>
        <p:spPr>
          <a:xfrm>
            <a:off x="3202916" y="1063415"/>
            <a:ext cx="604201" cy="907879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9"/>
          <p:cNvSpPr/>
          <p:nvPr/>
        </p:nvSpPr>
        <p:spPr>
          <a:xfrm>
            <a:off x="5340175" y="2461637"/>
            <a:ext cx="3300900" cy="1242900"/>
          </a:xfrm>
          <a:prstGeom prst="roundRect">
            <a:avLst>
              <a:gd fmla="val 2745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49"/>
          <p:cNvSpPr/>
          <p:nvPr/>
        </p:nvSpPr>
        <p:spPr>
          <a:xfrm>
            <a:off x="5729425" y="2577124"/>
            <a:ext cx="2522400" cy="10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Possible support</a:t>
            </a:r>
            <a:endParaRPr>
              <a:solidFill>
                <a:srgbClr val="1F33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Academic support</a:t>
            </a:r>
            <a:endParaRPr>
              <a:solidFill>
                <a:srgbClr val="1F33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Personalised guidance</a:t>
            </a:r>
            <a:endParaRPr>
              <a:solidFill>
                <a:srgbClr val="1F33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400"/>
              <a:buFont typeface="Calibri"/>
              <a:buChar char="-"/>
            </a:pPr>
            <a:r>
              <a:rPr lang="en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Follow-ups</a:t>
            </a:r>
            <a:endParaRPr>
              <a:solidFill>
                <a:srgbClr val="1F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9"/>
          <p:cNvSpPr/>
          <p:nvPr/>
        </p:nvSpPr>
        <p:spPr>
          <a:xfrm>
            <a:off x="5340175" y="4095737"/>
            <a:ext cx="33009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Prediction  ≠  Causation</a:t>
            </a:r>
            <a:endParaRPr b="1">
              <a:solidFill>
                <a:srgbClr val="1F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0"/>
          <p:cNvSpPr/>
          <p:nvPr/>
        </p:nvSpPr>
        <p:spPr>
          <a:xfrm>
            <a:off x="411480" y="274320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RETROSPECTIVE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50"/>
          <p:cNvSpPr/>
          <p:nvPr/>
        </p:nvSpPr>
        <p:spPr>
          <a:xfrm>
            <a:off x="411477" y="466350"/>
            <a:ext cx="46782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Challenges, Learnings &amp; Next Steps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50"/>
          <p:cNvSpPr/>
          <p:nvPr/>
        </p:nvSpPr>
        <p:spPr>
          <a:xfrm>
            <a:off x="411500" y="1155142"/>
            <a:ext cx="2251800" cy="2622300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50"/>
          <p:cNvSpPr/>
          <p:nvPr/>
        </p:nvSpPr>
        <p:spPr>
          <a:xfrm>
            <a:off x="617245" y="1397119"/>
            <a:ext cx="425100" cy="425100"/>
          </a:xfrm>
          <a:prstGeom prst="ellipse">
            <a:avLst/>
          </a:prstGeom>
          <a:solidFill>
            <a:srgbClr val="EAF0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puzzle.png" id="485" name="Google Shape;48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212" y="147436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50"/>
          <p:cNvSpPr/>
          <p:nvPr/>
        </p:nvSpPr>
        <p:spPr>
          <a:xfrm>
            <a:off x="3078113" y="1159206"/>
            <a:ext cx="2464500" cy="2622300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50"/>
          <p:cNvSpPr/>
          <p:nvPr/>
        </p:nvSpPr>
        <p:spPr>
          <a:xfrm>
            <a:off x="3270038" y="1352981"/>
            <a:ext cx="425100" cy="425100"/>
          </a:xfrm>
          <a:prstGeom prst="ellipse">
            <a:avLst/>
          </a:prstGeom>
          <a:solidFill>
            <a:srgbClr val="EAF0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.png" id="488" name="Google Shape;488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9191" y="1442135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50"/>
          <p:cNvSpPr/>
          <p:nvPr/>
        </p:nvSpPr>
        <p:spPr>
          <a:xfrm>
            <a:off x="3808333" y="1428475"/>
            <a:ext cx="138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100"/>
              <a:buFont typeface="Calibri"/>
              <a:buNone/>
            </a:pPr>
            <a:r>
              <a:rPr b="1" i="0" lang="en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Key Learnings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50"/>
          <p:cNvSpPr/>
          <p:nvPr/>
        </p:nvSpPr>
        <p:spPr>
          <a:xfrm>
            <a:off x="3306849" y="1766175"/>
            <a:ext cx="2075400" cy="19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Balancing tec</a:t>
            </a:r>
            <a:r>
              <a:rPr lang="en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hniques reduced overall accuracy but improved detection of minority class. </a:t>
            </a:r>
            <a:endParaRPr sz="120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t/>
            </a:r>
            <a:endParaRPr sz="120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Accuracy alone is not enough.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50"/>
          <p:cNvSpPr/>
          <p:nvPr/>
        </p:nvSpPr>
        <p:spPr>
          <a:xfrm>
            <a:off x="5897875" y="1155131"/>
            <a:ext cx="2606100" cy="2666700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 cap="flat" cmpd="sng" w="12700">
            <a:solidFill>
              <a:srgbClr val="E3E6E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94A0B8">
                <a:alpha val="251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50"/>
          <p:cNvSpPr/>
          <p:nvPr/>
        </p:nvSpPr>
        <p:spPr>
          <a:xfrm>
            <a:off x="6105995" y="1353865"/>
            <a:ext cx="425100" cy="425100"/>
          </a:xfrm>
          <a:prstGeom prst="ellipse">
            <a:avLst/>
          </a:prstGeom>
          <a:solidFill>
            <a:srgbClr val="EAF0F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50"/>
          <p:cNvSpPr/>
          <p:nvPr/>
        </p:nvSpPr>
        <p:spPr>
          <a:xfrm>
            <a:off x="6616034" y="1438372"/>
            <a:ext cx="207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100"/>
              <a:buFont typeface="Calibri"/>
              <a:buNone/>
            </a:pPr>
            <a:r>
              <a:rPr b="1" i="0" lang="en" u="none" cap="none" strike="noStrike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50"/>
          <p:cNvSpPr/>
          <p:nvPr/>
        </p:nvSpPr>
        <p:spPr>
          <a:xfrm>
            <a:off x="6039575" y="1831694"/>
            <a:ext cx="2334900" cy="15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190500" lvl="0" marL="34290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sz="120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More models and optimisation</a:t>
            </a:r>
            <a:endParaRPr sz="120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Addition student information</a:t>
            </a:r>
            <a:endParaRPr sz="120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Advisor dashboard</a:t>
            </a:r>
            <a:endParaRPr sz="1200">
              <a:solidFill>
                <a:srgbClr val="5B64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50"/>
          <p:cNvSpPr/>
          <p:nvPr/>
        </p:nvSpPr>
        <p:spPr>
          <a:xfrm>
            <a:off x="342900" y="4910328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Predicting Student Dropout &amp; Academic Success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50"/>
          <p:cNvSpPr/>
          <p:nvPr/>
        </p:nvSpPr>
        <p:spPr>
          <a:xfrm>
            <a:off x="8641080" y="4910328"/>
            <a:ext cx="274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7" name="Google Shape;497;p50"/>
          <p:cNvPicPr preferRelativeResize="0"/>
          <p:nvPr/>
        </p:nvPicPr>
        <p:blipFill rotWithShape="1">
          <a:blip r:embed="rId5">
            <a:alphaModFix/>
          </a:blip>
          <a:srcRect b="8608" l="10819" r="10670" t="24453"/>
          <a:stretch/>
        </p:blipFill>
        <p:spPr>
          <a:xfrm>
            <a:off x="588013" y="2044011"/>
            <a:ext cx="1816874" cy="1549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icons/rocket.png" id="498" name="Google Shape;498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5086" y="1452032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50"/>
          <p:cNvSpPr/>
          <p:nvPr/>
        </p:nvSpPr>
        <p:spPr>
          <a:xfrm>
            <a:off x="1145463" y="1346119"/>
            <a:ext cx="15774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357"/>
              </a:buClr>
              <a:buSzPts val="1100"/>
              <a:buFont typeface="Calibri"/>
              <a:buNone/>
            </a:pPr>
            <a:r>
              <a:rPr b="1" lang="en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Target class imbalance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50"/>
          <p:cNvSpPr/>
          <p:nvPr/>
        </p:nvSpPr>
        <p:spPr>
          <a:xfrm>
            <a:off x="418625" y="4196900"/>
            <a:ext cx="8092500" cy="527100"/>
          </a:xfrm>
          <a:prstGeom prst="roundRect">
            <a:avLst>
              <a:gd fmla="val 4516" name="adj"/>
            </a:avLst>
          </a:prstGeom>
          <a:solidFill>
            <a:srgbClr val="EAF0FA"/>
          </a:solidFill>
          <a:ln cap="flat" cmpd="sng" w="12700">
            <a:solidFill>
              <a:srgbClr val="EAF0FA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50"/>
          <p:cNvSpPr/>
          <p:nvPr/>
        </p:nvSpPr>
        <p:spPr>
          <a:xfrm>
            <a:off x="617250" y="4237550"/>
            <a:ext cx="76815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3357"/>
                </a:solidFill>
                <a:latin typeface="Calibri"/>
                <a:ea typeface="Calibri"/>
                <a:cs typeface="Calibri"/>
                <a:sym typeface="Calibri"/>
              </a:rPr>
              <a:t>Our results show the potential of Machine Learning to support earlier intervention. </a:t>
            </a:r>
            <a:endParaRPr b="1">
              <a:solidFill>
                <a:srgbClr val="1F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357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1"/>
          <p:cNvSpPr/>
          <p:nvPr/>
        </p:nvSpPr>
        <p:spPr>
          <a:xfrm>
            <a:off x="-1028700" y="-1234440"/>
            <a:ext cx="3429000" cy="3429000"/>
          </a:xfrm>
          <a:prstGeom prst="ellipse">
            <a:avLst/>
          </a:prstGeom>
          <a:solidFill>
            <a:srgbClr val="16254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1"/>
          <p:cNvSpPr/>
          <p:nvPr/>
        </p:nvSpPr>
        <p:spPr>
          <a:xfrm>
            <a:off x="7406640" y="2880360"/>
            <a:ext cx="3086100" cy="3086100"/>
          </a:xfrm>
          <a:prstGeom prst="ellipse">
            <a:avLst/>
          </a:prstGeom>
          <a:solidFill>
            <a:srgbClr val="16254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grad_cap_white.png" id="509" name="Google Shape;50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3682" y="1474470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1"/>
          <p:cNvSpPr/>
          <p:nvPr/>
        </p:nvSpPr>
        <p:spPr>
          <a:xfrm>
            <a:off x="342900" y="2091690"/>
            <a:ext cx="8455914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51"/>
          <p:cNvSpPr/>
          <p:nvPr/>
        </p:nvSpPr>
        <p:spPr>
          <a:xfrm>
            <a:off x="342900" y="2640330"/>
            <a:ext cx="8455914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3E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C9D3E5"/>
                </a:solidFill>
                <a:latin typeface="Calibri"/>
                <a:ea typeface="Calibri"/>
                <a:cs typeface="Calibri"/>
                <a:sym typeface="Calibri"/>
              </a:rPr>
              <a:t>Predicting Student Dropout &amp; Academic Success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51"/>
          <p:cNvCxnSpPr/>
          <p:nvPr/>
        </p:nvCxnSpPr>
        <p:spPr>
          <a:xfrm>
            <a:off x="4046220" y="3120390"/>
            <a:ext cx="1028700" cy="0"/>
          </a:xfrm>
          <a:prstGeom prst="straightConnector1">
            <a:avLst/>
          </a:prstGeom>
          <a:noFill/>
          <a:ln cap="flat" cmpd="sng" w="25400">
            <a:solidFill>
              <a:srgbClr val="B886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3" name="Google Shape;513;p51"/>
          <p:cNvSpPr/>
          <p:nvPr/>
        </p:nvSpPr>
        <p:spPr>
          <a:xfrm>
            <a:off x="342900" y="3257550"/>
            <a:ext cx="845591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Kseniia Iukhlina   ·   Carla Fajula   ·   Nadiya Al-Shahaibi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51"/>
          <p:cNvSpPr/>
          <p:nvPr/>
        </p:nvSpPr>
        <p:spPr>
          <a:xfrm>
            <a:off x="342900" y="3566160"/>
            <a:ext cx="8455914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7A3B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97A3BE"/>
                </a:solidFill>
                <a:latin typeface="Calibri"/>
                <a:ea typeface="Calibri"/>
                <a:cs typeface="Calibri"/>
                <a:sym typeface="Calibri"/>
              </a:rPr>
              <a:t>IRONHACK UNIVERSITY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51"/>
          <p:cNvSpPr/>
          <p:nvPr/>
        </p:nvSpPr>
        <p:spPr>
          <a:xfrm>
            <a:off x="342900" y="4389120"/>
            <a:ext cx="845591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862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B8862B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